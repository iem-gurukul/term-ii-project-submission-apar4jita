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attanakarn Bold" charset="1" panose="00000000000000000000"/>
      <p:regular r:id="rId12"/>
    </p:embeddedFont>
    <p:embeddedFont>
      <p:font typeface="Open Sans Bold" charset="1" panose="00000000000000000000"/>
      <p:regular r:id="rId13"/>
    </p:embeddedFont>
    <p:embeddedFont>
      <p:font typeface="Open Sans Medium" charset="1" panose="00000000000000000000"/>
      <p:regular r:id="rId14"/>
    </p:embeddedFont>
    <p:embeddedFont>
      <p:font typeface="Gagalin" charset="1" panose="00000500000000000000"/>
      <p:regular r:id="rId15"/>
    </p:embeddedFont>
    <p:embeddedFont>
      <p:font typeface="Shrikhand" charset="1" panose="02000000000000000000"/>
      <p:regular r:id="rId16"/>
    </p:embeddedFont>
    <p:embeddedFont>
      <p:font typeface="Open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4" id="4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02099" y="2730635"/>
            <a:ext cx="4883802" cy="475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b="true" sz="389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PROJECT TITLE:</a:t>
            </a:r>
          </a:p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lang="en-US" b="true" sz="389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 QuizMaster Pro: A Pattern-Driven Evaluation Engine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787942" y="87231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9144" y="2317497"/>
            <a:ext cx="3751707" cy="432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  <a:r>
              <a:rPr lang="en-US" sz="3092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</a:p>
          <a:p>
            <a:pPr algn="ctr">
              <a:lnSpc>
                <a:spcPts val="3735"/>
              </a:lnSpc>
              <a:spcBef>
                <a:spcPct val="0"/>
              </a:spcBef>
            </a:pPr>
            <a:r>
              <a:rPr lang="en-US" b="true" sz="2668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Traditional quiz systems use rigid, hard-coded logic, making it difficult to add new question types without modifying core code.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84112" y="5573616"/>
            <a:ext cx="3751707" cy="314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sz="30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Target Users:</a:t>
            </a:r>
          </a:p>
          <a:p>
            <a:pPr algn="ctr">
              <a:lnSpc>
                <a:spcPts val="3501"/>
              </a:lnSpc>
            </a:pPr>
            <a:r>
              <a:rPr lang="en-US" sz="2501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Educators, teachers, and corporate trainers who need a flexible and automated assessment system.</a:t>
            </a:r>
          </a:p>
          <a:p>
            <a:pPr algn="ctr">
              <a:lnSpc>
                <a:spcPts val="3501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990240" y="402674"/>
            <a:ext cx="2722602" cy="144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</a:pPr>
            <a:r>
              <a:rPr lang="en-US" sz="278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APARAJITA DUTTA </a:t>
            </a:r>
          </a:p>
          <a:p>
            <a:pPr algn="ctr">
              <a:lnSpc>
                <a:spcPts val="3892"/>
              </a:lnSpc>
            </a:pPr>
            <a:r>
              <a:rPr lang="en-US" sz="278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CSE (IOTCSBT)</a:t>
            </a:r>
          </a:p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ROLL-01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3" id="3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95540" y="1608943"/>
            <a:ext cx="5763760" cy="764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619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HIGH-LEVEL ARCHITECTURE :</a:t>
            </a:r>
          </a:p>
          <a:p>
            <a:pPr algn="l">
              <a:lnSpc>
                <a:spcPts val="3526"/>
              </a:lnSpc>
            </a:pP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User 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 ↓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ConsoleUI (UI Layer)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 ↓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QuizEngine (Service Layer)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 ↓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QuestionFactory (Factory Layer)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 ↓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AbstractQuestion → MCQ / Boolean (Model Layer)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 ↓</a:t>
            </a:r>
          </a:p>
          <a:p>
            <a:pPr algn="l">
              <a:lnSpc>
                <a:spcPts val="3526"/>
              </a:lnSpc>
            </a:pPr>
            <a:r>
              <a:rPr lang="en-US" sz="251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Repository (Data Layer)</a:t>
            </a:r>
          </a:p>
          <a:p>
            <a:pPr algn="l">
              <a:lnSpc>
                <a:spcPts val="2266"/>
              </a:lnSpc>
            </a:pPr>
          </a:p>
          <a:p>
            <a:pPr algn="l">
              <a:lnSpc>
                <a:spcPts val="2266"/>
              </a:lnSpc>
            </a:pPr>
          </a:p>
          <a:p>
            <a:pPr algn="l">
              <a:lnSpc>
                <a:spcPts val="674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5264" y="474606"/>
            <a:ext cx="6967322" cy="515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Key Classes &amp; Responsibilities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ConsoleUI → Handles user input/output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QuizEngine → Controls quiz flow &amp; scoring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QuestionFactory → Creates question objects dynamically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AbstractQuestion → Base structure for all questions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MCQuestion / BooleanQuestion → Specific implementations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QuestionRepository → Loads questions from file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ResultRepository → Saves results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580959" y="5213781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08815" y="828789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5264" y="5592706"/>
            <a:ext cx="4780462" cy="811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</a:pPr>
            <a:r>
              <a:rPr lang="en-US" sz="218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Package Structure</a:t>
            </a:r>
          </a:p>
          <a:p>
            <a:pPr algn="ctr">
              <a:lnSpc>
                <a:spcPts val="3056"/>
              </a:lnSpc>
            </a:pPr>
            <a:r>
              <a:rPr lang="en-US" sz="218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ui/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service/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factory/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model/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repository/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exception/</a:t>
            </a:r>
          </a:p>
          <a:p>
            <a:pPr algn="ctr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util/</a:t>
            </a:r>
          </a:p>
          <a:p>
            <a:pPr algn="ctr">
              <a:lnSpc>
                <a:spcPts val="284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</a:pPr>
          </a:p>
          <a:p>
            <a:pPr algn="ctr">
              <a:lnSpc>
                <a:spcPts val="27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069493" y="6588760"/>
            <a:ext cx="4141621" cy="369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Polymorphism :</a:t>
            </a:r>
          </a:p>
          <a:p>
            <a:pPr algn="just">
              <a:lnSpc>
                <a:spcPts val="3499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Using: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List&lt;AbstractQuestion&gt; questions;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Runtime method call: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question.checkAnswer(userAnswer);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67184" y="6590794"/>
            <a:ext cx="4141621" cy="275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 Pattern :</a:t>
            </a:r>
          </a:p>
          <a:p>
            <a:pPr algn="just">
              <a:lnSpc>
                <a:spcPts val="3499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Factory Design Pattern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Implemented using QuestionFactory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Creates objects based on type (MCQ / Boolean)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561086" y="6548755"/>
            <a:ext cx="4141621" cy="181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Inheritance :</a:t>
            </a:r>
          </a:p>
          <a:p>
            <a:pPr algn="just">
              <a:lnSpc>
                <a:spcPts val="3499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MCQuestion and BooleanQuestion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Extend AbstractQuestion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AutoShape 11" id="11"/>
          <p:cNvSpPr/>
          <p:nvPr/>
        </p:nvSpPr>
        <p:spPr>
          <a:xfrm flipV="true">
            <a:off x="6121755" y="7715696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2166245" y="7715696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717131" y="10287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63170" y="2109920"/>
            <a:ext cx="6246885" cy="243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8"/>
              </a:lnSpc>
              <a:spcBef>
                <a:spcPct val="0"/>
              </a:spcBef>
            </a:pPr>
            <a:r>
              <a:rPr lang="en-US" b="true" sz="301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Abstraction :</a:t>
            </a:r>
          </a:p>
          <a:p>
            <a:pPr algn="ctr">
              <a:lnSpc>
                <a:spcPts val="3880"/>
              </a:lnSpc>
              <a:spcBef>
                <a:spcPct val="0"/>
              </a:spcBef>
            </a:pPr>
            <a:r>
              <a:rPr lang="en-US" b="true" sz="2772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Implemented using AbstractQuestion</a:t>
            </a:r>
          </a:p>
          <a:p>
            <a:pPr algn="ctr">
              <a:lnSpc>
                <a:spcPts val="3880"/>
              </a:lnSpc>
              <a:spcBef>
                <a:spcPct val="0"/>
              </a:spcBef>
            </a:pPr>
            <a:r>
              <a:rPr lang="en-US" b="true" sz="2772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Defines common methods:</a:t>
            </a:r>
          </a:p>
          <a:p>
            <a:pPr algn="ctr">
              <a:lnSpc>
                <a:spcPts val="3880"/>
              </a:lnSpc>
              <a:spcBef>
                <a:spcPct val="0"/>
              </a:spcBef>
            </a:pPr>
            <a:r>
              <a:rPr lang="en-US" b="true" sz="2772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displayQuestion()</a:t>
            </a:r>
          </a:p>
          <a:p>
            <a:pPr algn="ctr">
              <a:lnSpc>
                <a:spcPts val="3880"/>
              </a:lnSpc>
              <a:spcBef>
                <a:spcPct val="0"/>
              </a:spcBef>
            </a:pPr>
            <a:r>
              <a:rPr lang="en-US" b="true" sz="2772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checkAnswer()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489139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39378" y="4846060"/>
            <a:ext cx="7431016" cy="4743304"/>
            <a:chOff x="0" y="0"/>
            <a:chExt cx="743959" cy="4748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3959" cy="474877"/>
            </a:xfrm>
            <a:custGeom>
              <a:avLst/>
              <a:gdLst/>
              <a:ahLst/>
              <a:cxnLst/>
              <a:rect r="r" b="b" t="t" l="l"/>
              <a:pathLst>
                <a:path h="474877" w="743959">
                  <a:moveTo>
                    <a:pt x="31255" y="0"/>
                  </a:moveTo>
                  <a:lnTo>
                    <a:pt x="712703" y="0"/>
                  </a:lnTo>
                  <a:cubicBezTo>
                    <a:pt x="729965" y="0"/>
                    <a:pt x="743959" y="13993"/>
                    <a:pt x="743959" y="31255"/>
                  </a:cubicBezTo>
                  <a:lnTo>
                    <a:pt x="743959" y="443622"/>
                  </a:lnTo>
                  <a:cubicBezTo>
                    <a:pt x="743959" y="460884"/>
                    <a:pt x="729965" y="474877"/>
                    <a:pt x="712703" y="474877"/>
                  </a:cubicBezTo>
                  <a:lnTo>
                    <a:pt x="31255" y="474877"/>
                  </a:lnTo>
                  <a:cubicBezTo>
                    <a:pt x="13993" y="474877"/>
                    <a:pt x="0" y="460884"/>
                    <a:pt x="0" y="443622"/>
                  </a:cubicBezTo>
                  <a:lnTo>
                    <a:pt x="0" y="31255"/>
                  </a:lnTo>
                  <a:cubicBezTo>
                    <a:pt x="0" y="13993"/>
                    <a:pt x="13993" y="0"/>
                    <a:pt x="31255" y="0"/>
                  </a:cubicBezTo>
                  <a:close/>
                </a:path>
              </a:pathLst>
            </a:custGeom>
            <a:blipFill>
              <a:blip r:embed="rId4"/>
              <a:stretch>
                <a:fillRect l="-5992" t="0" r="-5992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0737128" y="8258128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600714" y="5893415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372279" y="3085296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144000" y="1187768"/>
            <a:ext cx="1228279" cy="1228279"/>
            <a:chOff x="0" y="0"/>
            <a:chExt cx="323497" cy="323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74091" y="4064976"/>
            <a:ext cx="1228279" cy="1228279"/>
            <a:chOff x="0" y="0"/>
            <a:chExt cx="323497" cy="323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74660" y="6909419"/>
            <a:ext cx="1228279" cy="1228279"/>
            <a:chOff x="0" y="0"/>
            <a:chExt cx="323497" cy="323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2258124"/>
            <a:ext cx="5582114" cy="109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TECHNICAL HIGHLIGHTS &amp; DESIGN DECISIONS 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00714" y="805083"/>
            <a:ext cx="6255077" cy="326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  <a:r>
              <a:rPr lang="en-US" sz="19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Use of Factory Design Pattern for dynamic question creation</a:t>
            </a:r>
          </a:p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  <a:r>
              <a:rPr lang="en-US" sz="19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AbstractQuestion q = QuestionFactory.createQuestion(type, ...);</a:t>
            </a:r>
          </a:p>
          <a:p>
            <a:pPr algn="just">
              <a:lnSpc>
                <a:spcPts val="3859"/>
              </a:lnSpc>
            </a:pPr>
          </a:p>
          <a:p>
            <a:pPr algn="just">
              <a:lnSpc>
                <a:spcPts val="3859"/>
              </a:lnSpc>
            </a:pPr>
          </a:p>
          <a:p>
            <a:pPr algn="just">
              <a:lnSpc>
                <a:spcPts val="198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402370" y="378079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KEY DESIGN DECISION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00714" y="3897370"/>
            <a:ext cx="598225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TimerService (Multithreading) → countdown + auto submit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File-based persistence → .txt (questions), .csv (results)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 Exceptions → robust error handling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008633" y="5938949"/>
            <a:ext cx="5982250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Why This Approach?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73541" y="6575061"/>
            <a:ext cx="598225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Easy to add new question types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need to modify existing logic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Improves scalability &amp; maintainability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381989" y="1477193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51898" y="4414294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82558" y="7293505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29380" y="4822977"/>
            <a:ext cx="7684715" cy="5121127"/>
            <a:chOff x="0" y="0"/>
            <a:chExt cx="2293905" cy="152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3905" cy="1528668"/>
            </a:xfrm>
            <a:custGeom>
              <a:avLst/>
              <a:gdLst/>
              <a:ahLst/>
              <a:cxnLst/>
              <a:rect r="r" b="b" t="t" l="l"/>
              <a:pathLst>
                <a:path h="1528668" w="2293905">
                  <a:moveTo>
                    <a:pt x="30223" y="0"/>
                  </a:moveTo>
                  <a:lnTo>
                    <a:pt x="2263682" y="0"/>
                  </a:lnTo>
                  <a:cubicBezTo>
                    <a:pt x="2280374" y="0"/>
                    <a:pt x="2293905" y="13531"/>
                    <a:pt x="2293905" y="30223"/>
                  </a:cubicBezTo>
                  <a:lnTo>
                    <a:pt x="2293905" y="1498444"/>
                  </a:lnTo>
                  <a:cubicBezTo>
                    <a:pt x="2293905" y="1506460"/>
                    <a:pt x="2290721" y="1514148"/>
                    <a:pt x="2285053" y="1519816"/>
                  </a:cubicBezTo>
                  <a:cubicBezTo>
                    <a:pt x="2279385" y="1525484"/>
                    <a:pt x="2271697" y="1528668"/>
                    <a:pt x="2263682" y="1528668"/>
                  </a:cubicBezTo>
                  <a:lnTo>
                    <a:pt x="30223" y="1528668"/>
                  </a:lnTo>
                  <a:cubicBezTo>
                    <a:pt x="22208" y="1528668"/>
                    <a:pt x="14520" y="1525484"/>
                    <a:pt x="8852" y="1519816"/>
                  </a:cubicBezTo>
                  <a:cubicBezTo>
                    <a:pt x="3184" y="1514148"/>
                    <a:pt x="0" y="1506460"/>
                    <a:pt x="0" y="1498444"/>
                  </a:cubicBezTo>
                  <a:lnTo>
                    <a:pt x="0" y="30223"/>
                  </a:lnTo>
                  <a:cubicBezTo>
                    <a:pt x="0" y="22208"/>
                    <a:pt x="3184" y="14520"/>
                    <a:pt x="8852" y="8852"/>
                  </a:cubicBezTo>
                  <a:cubicBezTo>
                    <a:pt x="14520" y="3184"/>
                    <a:pt x="22208" y="0"/>
                    <a:pt x="30223" y="0"/>
                  </a:cubicBezTo>
                  <a:close/>
                </a:path>
              </a:pathLst>
            </a:custGeom>
            <a:blipFill>
              <a:blip r:embed="rId4"/>
              <a:stretch>
                <a:fillRect l="-1186" t="0" r="-58431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201650" y="105616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8410" y="464732"/>
            <a:ext cx="9376585" cy="3195017"/>
          </a:xfrm>
          <a:custGeom>
            <a:avLst/>
            <a:gdLst/>
            <a:ahLst/>
            <a:cxnLst/>
            <a:rect r="r" b="b" t="t" l="l"/>
            <a:pathLst>
              <a:path h="3195017" w="9376585">
                <a:moveTo>
                  <a:pt x="0" y="0"/>
                </a:moveTo>
                <a:lnTo>
                  <a:pt x="9376585" y="0"/>
                </a:lnTo>
                <a:lnTo>
                  <a:pt x="9376585" y="3195017"/>
                </a:lnTo>
                <a:lnTo>
                  <a:pt x="0" y="3195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278" t="0" r="-7702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16556" y="4787904"/>
            <a:ext cx="8712904" cy="5156199"/>
          </a:xfrm>
          <a:custGeom>
            <a:avLst/>
            <a:gdLst/>
            <a:ahLst/>
            <a:cxnLst/>
            <a:rect r="r" b="b" t="t" l="l"/>
            <a:pathLst>
              <a:path h="5156199" w="8712904">
                <a:moveTo>
                  <a:pt x="0" y="0"/>
                </a:moveTo>
                <a:lnTo>
                  <a:pt x="8712904" y="0"/>
                </a:lnTo>
                <a:lnTo>
                  <a:pt x="8712904" y="5156199"/>
                </a:lnTo>
                <a:lnTo>
                  <a:pt x="0" y="51561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680" r="-39253" b="-368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29913" y="251905"/>
            <a:ext cx="5814832" cy="3620671"/>
          </a:xfrm>
          <a:custGeom>
            <a:avLst/>
            <a:gdLst/>
            <a:ahLst/>
            <a:cxnLst/>
            <a:rect r="r" b="b" t="t" l="l"/>
            <a:pathLst>
              <a:path h="3620671" w="5814832">
                <a:moveTo>
                  <a:pt x="0" y="0"/>
                </a:moveTo>
                <a:lnTo>
                  <a:pt x="5814832" y="0"/>
                </a:lnTo>
                <a:lnTo>
                  <a:pt x="5814832" y="3620671"/>
                </a:lnTo>
                <a:lnTo>
                  <a:pt x="0" y="36206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94352" b="-3421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27498" y="3903598"/>
            <a:ext cx="4173196" cy="61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3"/>
              </a:lnSpc>
              <a:spcBef>
                <a:spcPct val="0"/>
              </a:spcBef>
            </a:pPr>
            <a:r>
              <a:rPr lang="en-US" b="true" sz="1795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ERROR HANDLING CASES AND DEMONSTRATION 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598323" y="4086143"/>
            <a:ext cx="8781636" cy="245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1"/>
              </a:lnSpc>
            </a:pPr>
            <a:r>
              <a:rPr lang="en-US" b="true" sz="70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THANK YOU</a:t>
            </a:r>
          </a:p>
          <a:p>
            <a:pPr algn="ctr">
              <a:lnSpc>
                <a:spcPts val="9881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02316" y="4899847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65493" y="538715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DAHFVVv6WQg</dc:identifier>
  <dcterms:modified xsi:type="dcterms:W3CDTF">2011-08-01T06:04:30Z</dcterms:modified>
  <cp:revision>1</cp:revision>
  <dc:title>PROJECT TITLE</dc:title>
</cp:coreProperties>
</file>